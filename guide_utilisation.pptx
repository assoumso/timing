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499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60152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400" b="1">
                <a:solidFill>
                  <a:srgbClr val="EE7B11"/>
                </a:solidFill>
                <a:latin typeface="Arial"/>
              </a:defRPr>
            </a:pPr>
            <a:r>
              <a:t>ERP BARAKAT</a:t>
            </a:r>
          </a:p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Guide d'Utilisation Numérique Complet</a:t>
            </a:r>
          </a:p>
          <a:p>
            <a:pPr>
              <a:defRPr sz="1800">
                <a:solidFill>
                  <a:srgbClr val="C8DCFF"/>
                </a:solidFill>
                <a:latin typeface="Arial"/>
              </a:defRPr>
            </a:pPr>
            <a:r>
              <a:t>Gestion Scolaire • Emploi du Temps • Notes &amp; Facturation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B4998"/>
                </a:solidFill>
                <a:latin typeface="Arial"/>
              </a:defRPr>
            </a:pPr>
            <a:r>
              <a:t>1. Rôles &amp; Gestion des Accès (RBAC)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27455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/>
            <a:r>
              <a:rPr b="1" sz="1800">
                <a:solidFill>
                  <a:srgbClr val="1E293B"/>
                </a:solidFill>
              </a:rPr>
              <a:t>• Directeur / Super Admin : </a:t>
            </a:r>
            <a:r>
              <a:rPr sz="1600">
                <a:solidFill>
                  <a:srgbClr val="1E293B"/>
                </a:solidFill>
              </a:rPr>
              <a:t>Accès total à tous les onglets, modification des droits, déverrouillage des notes figées et validation finale des Procès-Verbaux (PV).</a:t>
            </a:r>
          </a:p>
          <a:p>
            <a:pPr/>
            <a:r>
              <a:rPr b="1" sz="1800">
                <a:solidFill>
                  <a:srgbClr val="1E293B"/>
                </a:solidFill>
              </a:rPr>
              <a:t>• Correspondant Fichier (Informaticien) : </a:t>
            </a:r>
            <a:r>
              <a:rPr sz="1600">
                <a:solidFill>
                  <a:srgbClr val="1E293B"/>
                </a:solidFill>
              </a:rPr>
              <a:t>Gestion technique des bases de données, inscriptions, configurations d'EDT et correctifs de notes.</a:t>
            </a:r>
          </a:p>
          <a:p>
            <a:pPr/>
            <a:r>
              <a:rPr b="1" sz="1800">
                <a:solidFill>
                  <a:srgbClr val="1E293B"/>
                </a:solidFill>
              </a:rPr>
              <a:t>• Professeurs : </a:t>
            </a:r>
            <a:r>
              <a:rPr sz="1600">
                <a:solidFill>
                  <a:srgbClr val="1E293B"/>
                </a:solidFill>
              </a:rPr>
              <a:t>Accès limité à l'emploi du temps personnel et saisie des notes uniquement sur autorisation expresse.</a:t>
            </a:r>
          </a:p>
          <a:p>
            <a:pPr/>
            <a:r>
              <a:rPr b="1" sz="1800">
                <a:solidFill>
                  <a:srgbClr val="1E293B"/>
                </a:solidFill>
              </a:rPr>
              <a:t>• Attribution des droits : </a:t>
            </a:r>
            <a:r>
              <a:rPr sz="1600">
                <a:solidFill>
                  <a:srgbClr val="1E293B"/>
                </a:solidFill>
              </a:rPr>
              <a:t>Le Directeur attribue la permission 'Saisie des Moyennes' dynamiquement via l'onglet Administration.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B4998"/>
                </a:solidFill>
                <a:latin typeface="Arial"/>
              </a:defRPr>
            </a:pPr>
            <a:r>
              <a:t>2. Saisie des Moyennes &amp; Verrouillage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27455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/>
            <a:r>
              <a:rPr b="1" sz="1800">
                <a:solidFill>
                  <a:srgbClr val="1E293B"/>
                </a:solidFill>
              </a:rPr>
              <a:t>• Saisie par le Professeur : </a:t>
            </a:r>
            <a:r>
              <a:rPr sz="1600">
                <a:solidFill>
                  <a:srgbClr val="1E293B"/>
                </a:solidFill>
              </a:rPr>
              <a:t>Le professeur remplit la grille de notes pour sa classe/matière autorisée.</a:t>
            </a:r>
          </a:p>
          <a:p>
            <a:pPr/>
            <a:r>
              <a:rPr b="1" sz="1800">
                <a:solidFill>
                  <a:srgbClr val="1E293B"/>
                </a:solidFill>
              </a:rPr>
              <a:t>• Action 'Valider &amp; Figer' : </a:t>
            </a:r>
            <a:r>
              <a:rPr sz="1600">
                <a:solidFill>
                  <a:srgbClr val="1E293B"/>
                </a:solidFill>
              </a:rPr>
              <a:t>Une fois validées, les notes passent au statut verrouillé (🔒). L'enseignant ne peut plus les modifier.</a:t>
            </a:r>
          </a:p>
          <a:p>
            <a:pPr/>
            <a:r>
              <a:rPr b="1" sz="1800">
                <a:solidFill>
                  <a:srgbClr val="1E293B"/>
                </a:solidFill>
              </a:rPr>
              <a:t>• Règle de Sécurité : </a:t>
            </a:r>
            <a:r>
              <a:rPr sz="1600">
                <a:solidFill>
                  <a:srgbClr val="1E293B"/>
                </a:solidFill>
              </a:rPr>
              <a:t>Les modifications après validation sont exclusivement réservées au Directeur et à l'Informaticien.</a:t>
            </a:r>
          </a:p>
          <a:p>
            <a:pPr/>
            <a:r>
              <a:rPr b="1" sz="1800">
                <a:solidFill>
                  <a:srgbClr val="1E293B"/>
                </a:solidFill>
              </a:rPr>
              <a:t>• Déverrouillage : </a:t>
            </a:r>
            <a:r>
              <a:rPr sz="1600">
                <a:solidFill>
                  <a:srgbClr val="1E293B"/>
                </a:solidFill>
              </a:rPr>
              <a:t>Le Directeur peut débloquer individuellement ou par lot les notes pour permettre un correctif.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B4998"/>
                </a:solidFill>
                <a:latin typeface="Arial"/>
              </a:defRPr>
            </a:pPr>
            <a:r>
              <a:t>3. Procédure de Validation des Bulletins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27455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/>
            <a:r>
              <a:rPr b="1" sz="1800">
                <a:solidFill>
                  <a:srgbClr val="1E293B"/>
                </a:solidFill>
              </a:rPr>
              <a:t>• Étape 1 : Saisie de notes </a:t>
            </a:r>
            <a:r>
              <a:rPr sz="1600">
                <a:solidFill>
                  <a:srgbClr val="1E293B"/>
                </a:solidFill>
              </a:rPr>
              <a:t>par les enseignants pour toutes les matières.</a:t>
            </a:r>
          </a:p>
          <a:p>
            <a:pPr/>
            <a:r>
              <a:rPr b="1" sz="1800">
                <a:solidFill>
                  <a:srgbClr val="1E293B"/>
                </a:solidFill>
              </a:rPr>
              <a:t>• Étape 2 : Consultation de la 'Natte' </a:t>
            </a:r>
            <a:r>
              <a:rPr sz="1600">
                <a:solidFill>
                  <a:srgbClr val="1E293B"/>
                </a:solidFill>
              </a:rPr>
              <a:t>par la direction pour vérification globale.</a:t>
            </a:r>
          </a:p>
          <a:p>
            <a:pPr/>
            <a:r>
              <a:rPr b="1" sz="1800">
                <a:solidFill>
                  <a:srgbClr val="1E293B"/>
                </a:solidFill>
              </a:rPr>
              <a:t>• Étape 3 : Validation du Procès-Verbal (PV) </a:t>
            </a:r>
            <a:r>
              <a:rPr sz="1600">
                <a:solidFill>
                  <a:srgbClr val="1E293B"/>
                </a:solidFill>
              </a:rPr>
              <a:t>de la classe par le Directeur (onglet Évaluations).</a:t>
            </a:r>
          </a:p>
          <a:p>
            <a:pPr/>
            <a:r>
              <a:rPr b="1" sz="1800">
                <a:solidFill>
                  <a:srgbClr val="1E293B"/>
                </a:solidFill>
              </a:rPr>
              <a:t>• Étape 4 : Impression des Bulletins </a:t>
            </a:r>
            <a:r>
              <a:rPr sz="1600">
                <a:solidFill>
                  <a:srgbClr val="1E293B"/>
                </a:solidFill>
              </a:rPr>
              <a:t>devenue disponible uniquement après validation du PV de la classe.</a:t>
            </a:r>
          </a:p>
          <a:p>
            <a:pPr/>
            <a:r>
              <a:rPr b="1" sz="1800">
                <a:solidFill>
                  <a:srgbClr val="1E293B"/>
                </a:solidFill>
              </a:rPr>
              <a:t>• Sécurité renforcée : </a:t>
            </a:r>
            <a:r>
              <a:rPr sz="1600">
                <a:solidFill>
                  <a:srgbClr val="1E293B"/>
                </a:solidFill>
              </a:rPr>
              <a:t>Aucun bulletin n'est éditable ou consultable si le PV de classe n'est pas validé au préalable.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B4998"/>
                </a:solidFill>
                <a:latin typeface="Arial"/>
              </a:defRPr>
            </a:pPr>
            <a:r>
              <a:t>4. Emplois du Temps (EDT)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27455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/>
            <a:r>
              <a:rPr b="1" sz="1800">
                <a:solidFill>
                  <a:srgbClr val="1E293B"/>
                </a:solidFill>
              </a:rPr>
              <a:t>• Planification intelligente : </a:t>
            </a:r>
            <a:r>
              <a:rPr sz="1600">
                <a:solidFill>
                  <a:srgbClr val="1E293B"/>
                </a:solidFill>
              </a:rPr>
              <a:t>Attribution des créneaux horaires, enseignants, salles et matières.</a:t>
            </a:r>
          </a:p>
          <a:p>
            <a:pPr/>
            <a:r>
              <a:rPr b="1" sz="1800">
                <a:solidFill>
                  <a:srgbClr val="1E293B"/>
                </a:solidFill>
              </a:rPr>
              <a:t>• Détection des conflits : </a:t>
            </a:r>
            <a:r>
              <a:rPr sz="1600">
                <a:solidFill>
                  <a:srgbClr val="1E293B"/>
                </a:solidFill>
              </a:rPr>
              <a:t>Vérification instantanée en cas de double réservation d'enseignant, de salle ou d'horaire indisponible.</a:t>
            </a:r>
          </a:p>
          <a:p>
            <a:pPr/>
            <a:r>
              <a:rPr b="1" sz="1800">
                <a:solidFill>
                  <a:srgbClr val="1E293B"/>
                </a:solidFill>
              </a:rPr>
              <a:t>• Professeur Principal : </a:t>
            </a:r>
            <a:r>
              <a:rPr sz="1600">
                <a:solidFill>
                  <a:srgbClr val="1E293B"/>
                </a:solidFill>
              </a:rPr>
              <a:t>Chaque classe possède son enseignant principal attitré visible sur l'EDT et le bulletin.</a:t>
            </a:r>
          </a:p>
          <a:p>
            <a:pPr/>
            <a:r>
              <a:rPr b="1" sz="1800">
                <a:solidFill>
                  <a:srgbClr val="1E293B"/>
                </a:solidFill>
              </a:rPr>
              <a:t>• Visualisation et Impression : </a:t>
            </a:r>
            <a:r>
              <a:rPr sz="1600">
                <a:solidFill>
                  <a:srgbClr val="1E293B"/>
                </a:solidFill>
              </a:rPr>
              <a:t>Grilles d'EDT claires filtrables par enseignant ou par classe prêtes pour l'impression.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B4998"/>
                </a:solidFill>
                <a:latin typeface="Arial"/>
              </a:defRPr>
            </a:pPr>
            <a:r>
              <a:t>5. Facturation &amp; Scolarité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27455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/>
            <a:r>
              <a:rPr b="1" sz="1800">
                <a:solidFill>
                  <a:srgbClr val="1E293B"/>
                </a:solidFill>
              </a:rPr>
              <a:t>• Traçabilité financière : </a:t>
            </a:r>
            <a:r>
              <a:rPr sz="1600">
                <a:solidFill>
                  <a:srgbClr val="1E293B"/>
                </a:solidFill>
              </a:rPr>
              <a:t>Enregistrement des versements d'écolages par élève.</a:t>
            </a:r>
          </a:p>
          <a:p>
            <a:pPr/>
            <a:r>
              <a:rPr b="1" sz="1800">
                <a:solidFill>
                  <a:srgbClr val="1E293B"/>
                </a:solidFill>
              </a:rPr>
              <a:t>• Reçus PDF officiels : </a:t>
            </a:r>
            <a:r>
              <a:rPr sz="1600">
                <a:solidFill>
                  <a:srgbClr val="1E293B"/>
                </a:solidFill>
              </a:rPr>
              <a:t>Génération automatique d'un reçu imprimable pour chaque transaction.</a:t>
            </a:r>
          </a:p>
          <a:p>
            <a:pPr/>
            <a:r>
              <a:rPr b="1" sz="1800">
                <a:solidFill>
                  <a:srgbClr val="1E293B"/>
                </a:solidFill>
              </a:rPr>
              <a:t>• Notification intégrée : </a:t>
            </a:r>
            <a:r>
              <a:rPr sz="1600">
                <a:solidFill>
                  <a:srgbClr val="1E293B"/>
                </a:solidFill>
              </a:rPr>
              <a:t>Bouton d'envoi rapide par WhatsApp ou SMS pour notifier instantanément les parents d'élèves.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